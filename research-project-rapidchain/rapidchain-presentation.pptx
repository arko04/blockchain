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8"/>
  </p:notesMasterIdLst>
  <p:handoutMasterIdLst>
    <p:handoutMasterId r:id="rId19"/>
  </p:handoutMasterIdLst>
  <p:sldIdLst>
    <p:sldId id="320" r:id="rId2"/>
    <p:sldId id="328" r:id="rId3"/>
    <p:sldId id="257" r:id="rId4"/>
    <p:sldId id="331" r:id="rId5"/>
    <p:sldId id="332" r:id="rId6"/>
    <p:sldId id="333" r:id="rId7"/>
    <p:sldId id="335" r:id="rId8"/>
    <p:sldId id="340" r:id="rId9"/>
    <p:sldId id="336" r:id="rId10"/>
    <p:sldId id="341" r:id="rId11"/>
    <p:sldId id="342" r:id="rId12"/>
    <p:sldId id="343" r:id="rId13"/>
    <p:sldId id="344" r:id="rId14"/>
    <p:sldId id="334" r:id="rId15"/>
    <p:sldId id="345" r:id="rId16"/>
    <p:sldId id="32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EC9DDE03-32D6-4AAA-B622-E4443C686E0B}">
          <p14:sldIdLst>
            <p14:sldId id="320"/>
          </p14:sldIdLst>
        </p14:section>
        <p14:section name="Presentation" id="{8DF8EF2B-1483-4AC9-BE28-418409E42E11}">
          <p14:sldIdLst>
            <p14:sldId id="328"/>
            <p14:sldId id="257"/>
            <p14:sldId id="331"/>
            <p14:sldId id="332"/>
            <p14:sldId id="333"/>
            <p14:sldId id="335"/>
            <p14:sldId id="340"/>
            <p14:sldId id="336"/>
            <p14:sldId id="341"/>
            <p14:sldId id="342"/>
            <p14:sldId id="343"/>
            <p14:sldId id="344"/>
            <p14:sldId id="334"/>
            <p14:sldId id="345"/>
            <p14:sldId id="321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A90C"/>
    <a:srgbClr val="EBEBEB"/>
    <a:srgbClr val="F2F2F2"/>
    <a:srgbClr val="F18DEC"/>
    <a:srgbClr val="D59B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15" autoAdjust="0"/>
    <p:restoredTop sz="94364" autoAdjust="0"/>
  </p:normalViewPr>
  <p:slideViewPr>
    <p:cSldViewPr snapToGrid="0">
      <p:cViewPr varScale="1">
        <p:scale>
          <a:sx n="74" d="100"/>
          <a:sy n="74" d="100"/>
        </p:scale>
        <p:origin x="208" y="9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6" d="100"/>
          <a:sy n="56" d="100"/>
        </p:scale>
        <p:origin x="2856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288D2E-271E-4DFC-86DD-975E66061599}" type="datetimeFigureOut">
              <a:rPr lang="en-US" smtClean="0"/>
              <a:t>7/19/25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DD1C0D-7404-44CD-9A93-34AF9A45F0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6586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BBED53-6D14-4D6A-AE5F-79C02336EFB1}" type="datetimeFigureOut">
              <a:rPr lang="en-US" smtClean="0"/>
              <a:t>7/19/25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C96216-5D9A-4B36-A27F-B72EA02E52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964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788268-9DD2-41D6-9C27-E82A0043553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7094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Ethereum is an open source, globally decentralized computing infrastructure that executes programs called smart contracts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C96216-5D9A-4B36-A27F-B72EA02E524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7823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9FC569-4ED9-B471-AC8A-2FC0C0ABD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3761F3-8AF2-EE6A-E691-4C37805238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D351EE-13A5-B7B9-3745-36CBEFCE7C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Ethereum is an open source, globally decentralized computing infrastructure that executes programs called smart contracts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34D1B0-ACC7-AFA1-A51E-F72005DD8B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C96216-5D9A-4B36-A27F-B72EA02E524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9950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8E3260-A761-9ADE-17B4-41BCA2B49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F8999C-849A-1F86-2296-B490A8A084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EE70AD-3DA9-E11D-4BDC-BC62C3004C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Ethereum is an open source, globally decentralized computing infrastructure that executes programs called smart contracts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A6781A-C050-3537-BAC1-660761269E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C96216-5D9A-4B36-A27F-B72EA02E524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1805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402D4C-71F9-051F-6BB1-489E7E879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E6F4D2-8330-7B6D-2340-0C738AC201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D5D30E-6163-21DE-BF61-1B823EC6FC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Ethereum is an open source, globally decentralized computing infrastructure that executes programs called smart contracts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0C191C-8B28-7B99-5B51-F2C2628C7C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C96216-5D9A-4B36-A27F-B72EA02E524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9354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49B04D-76D3-FD6D-75C2-278C57C91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D175A1-70F4-2303-369F-51A91BB964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7DF7C0-30CE-ADB3-6D43-601BA9C739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Ethereum is an open source, globally decentralized computing infrastructure that executes programs called smart contracts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A18115-8FC6-ABFD-7E09-B44CC619B4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C96216-5D9A-4B36-A27F-B72EA02E524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7342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7E11B-D856-22E8-4A30-6FE1818F4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F6F203-5F2C-B8F4-94D6-F2621C3225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A9FC47-CCD9-8A5C-D211-ED23FDC8C8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Ethereum is an open source, globally decentralized computing infrastructure that executes programs called smart contracts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212044-20B9-5872-DE93-EC18E9F637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C96216-5D9A-4B36-A27F-B72EA02E524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7036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159F6B-14CF-3A2C-4ECD-38EA8AA00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FCBCA4-18EA-E8BE-91AF-D7F5816D42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9D31E2-C907-93CE-AC49-18888CEE2E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Ethereum is an open source, globally decentralized computing infrastructure that executes programs called smart contracts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577752-6C92-B2A4-2295-8E4326E0CE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C96216-5D9A-4B36-A27F-B72EA02E524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6531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9C8A8C-F373-1825-D7D3-65C4F5728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615BAA-839A-726D-3D1D-444555E0BA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ECC7C6-7FDA-345D-5908-F572AB9A4D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Ethereum is an open source, globally decentralized computing infrastructure that executes programs called smart contracts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8AC7B3-5D75-8AC4-64BA-0E7015AF47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C96216-5D9A-4B36-A27F-B72EA02E524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6134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6C9A74-0B2D-F5B4-98DA-953143151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7AAAE2-325E-CB67-3A56-FAFDC8FDD6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D20A55-B178-AA83-5AB9-942F1355F5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Ethereum is an open source, globally decentralized computing infrastructure that executes programs called smart contracts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2ADE56-C846-7D81-C792-C3FA3D6654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C96216-5D9A-4B36-A27F-B72EA02E524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7465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A9DC4-37E1-5FBD-F70B-3BD013BB6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AB8C85-715B-F12C-98F5-19E4D06961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60B395-C230-AF58-CE8E-11CAF2C315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Ethereum is an open source, globally decentralized computing infrastructure that executes programs called smart contracts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3F53C5-65D2-BB11-29A7-178E1178A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C96216-5D9A-4B36-A27F-B72EA02E524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1802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76EC92-E1D3-BB94-CE4A-B07D43E3D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D663EE-158B-C86C-2E97-C3A2486583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BA1DE9-BCCE-E3C9-A6D7-4FBF8804FD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Ethereum is an open source, globally decentralized computing infrastructure that executes programs called smart contracts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18E86A-9A98-9305-7BF3-C070EA90D0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C96216-5D9A-4B36-A27F-B72EA02E524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8876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9AA88C-55BD-62AF-A3D3-9225D4EAC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A21461-CD46-4DDC-803B-1C5734EA47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4E5377-6731-1FB5-0C62-769AA9EAE0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Ethereum is an open source, globally decentralized computing infrastructure that executes programs called smart contracts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0C1966-DD14-6227-F446-B022A5FC94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C96216-5D9A-4B36-A27F-B72EA02E524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68036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4230CF-803F-F406-511F-87FAF921F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B66B5D-C673-C670-B922-6ABC244020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4FE8C6-67B5-3BC2-6F6A-292464F7A2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Ethereum is an open source, globally decentralized computing infrastructure that executes programs called smart contracts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C7354D-1D9C-BB51-3ABB-27EDC05E3B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C96216-5D9A-4B36-A27F-B72EA02E524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782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0BF4F-13D9-4364-99A2-555F74E8CAF4}" type="datetime1">
              <a:rPr lang="en-US" smtClean="0"/>
              <a:t>7/19/25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Mohammad A. Akhaee, ECE, UT, Room #203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3848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20194-46F8-4C99-AC88-B6F0F9B4A6AC}" type="datetime1">
              <a:rPr lang="en-US" smtClean="0"/>
              <a:t>7/19/25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Mohammad A. Akhaee, ECE, UT, Room #203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/>
            </a:lvl1pPr>
          </a:lstStyle>
          <a:p>
            <a:fld id="{5C1705F3-4696-40A6-9A34-D433DE9A99A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65839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4F728-3C06-4C04-9839-E61A786799AA}" type="datetime1">
              <a:rPr lang="en-US" smtClean="0"/>
              <a:t>7/19/25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Mohammad A. Akhaee, ECE, UT, Room #203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4648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9360D-2102-4A13-91F7-375D506891B8}" type="datetime1">
              <a:rPr lang="en-US" smtClean="0"/>
              <a:t>7/19/25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Mohammad A. Akhaee, ECE, UT, Room #203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048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2702" y="365125"/>
            <a:ext cx="9962686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22BD2-7EC5-4046-A3B8-78DFEB21CA34}" type="datetime1">
              <a:rPr lang="en-US" smtClean="0"/>
              <a:t>7/19/25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Mohammad A. Akhaee, ECE, UT, Room #203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2627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6BBA4-5FD2-4C54-B814-8F4A030AF0AB}" type="datetime1">
              <a:rPr lang="en-US" smtClean="0"/>
              <a:t>7/19/25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Mohammad A. Akhaee, ECE, UT, Room #203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/>
            </a:lvl1pPr>
          </a:lstStyle>
          <a:p>
            <a:fld id="{5C1705F3-4696-40A6-9A34-D433DE9A99A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113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8FE69-453B-4A96-AF23-060E27525C58}" type="datetime1">
              <a:rPr lang="en-US" smtClean="0"/>
              <a:t>7/19/25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Mohammad A. Akhaee, ECE, UT, Room #203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/>
            </a:lvl1pPr>
          </a:lstStyle>
          <a:p>
            <a:fld id="{5C1705F3-4696-40A6-9A34-D433DE9A99A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923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6F68F-7AA1-4141-B1FF-8DFD54BAD094}" type="datetime1">
              <a:rPr lang="en-US" smtClean="0"/>
              <a:t>7/19/25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Mohammad A. Akhaee, ECE, UT, Room #203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890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CF000-EFF3-4925-B1B9-F4A43BC2232F}" type="datetime1">
              <a:rPr lang="en-US" smtClean="0"/>
              <a:t>7/19/25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Mohammad A. Akhaee, ECE, UT, Room #203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5310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1BF10-1CEB-410B-8D44-3BDA7AF713F7}" type="datetime1">
              <a:rPr lang="en-US" smtClean="0"/>
              <a:t>7/19/25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Mohammad A. Akhaee, ECE, UT, Room #203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75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EC6AD-6933-4CF7-A503-3BC448A8FE91}" type="datetime1">
              <a:rPr lang="en-US" smtClean="0"/>
              <a:t>7/19/25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Mohammad A. Akhaee, ECE, UT, Room #203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8615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92702" y="365125"/>
            <a:ext cx="996109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EF0FC9-BE06-4E74-B503-196B9FB5E09B}" type="datetime1">
              <a:rPr lang="en-US" smtClean="0"/>
              <a:t>7/19/25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Mohammad A. Akhaee, ECE, UT, Room #203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1705F3-4696-40A6-9A34-D433DE9A9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52617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981345"/>
            <a:ext cx="8191500" cy="2387600"/>
          </a:xfrm>
        </p:spPr>
        <p:txBody>
          <a:bodyPr>
            <a:normAutofit fontScale="90000"/>
          </a:bodyPr>
          <a:lstStyle/>
          <a:p>
            <a:r>
              <a:rPr lang="en-US" i="1" dirty="0" err="1">
                <a:solidFill>
                  <a:schemeClr val="accent2"/>
                </a:solidFill>
              </a:rPr>
              <a:t>RapidChain</a:t>
            </a:r>
            <a:r>
              <a:rPr lang="en-US" i="1" dirty="0">
                <a:solidFill>
                  <a:schemeClr val="accent2"/>
                </a:solidFill>
              </a:rPr>
              <a:t>:</a:t>
            </a:r>
            <a:br>
              <a:rPr lang="en-US" i="1" dirty="0">
                <a:solidFill>
                  <a:schemeClr val="accent2"/>
                </a:solidFill>
              </a:rPr>
            </a:br>
            <a:r>
              <a:rPr lang="en-US" sz="4900" i="1" dirty="0">
                <a:solidFill>
                  <a:schemeClr val="accent2"/>
                </a:solidFill>
              </a:rPr>
              <a:t>Scaling Blockchain via Full Sharding </a:t>
            </a:r>
            <a:br>
              <a:rPr lang="en-US" i="1" dirty="0">
                <a:solidFill>
                  <a:schemeClr val="accent2"/>
                </a:solidFill>
              </a:rPr>
            </a:br>
            <a:endParaRPr lang="en-US" i="1" dirty="0">
              <a:solidFill>
                <a:schemeClr val="accent2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47750" y="4606245"/>
            <a:ext cx="9144000" cy="1190398"/>
          </a:xfrm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</a:rPr>
              <a:t>Presenter: Alireza Karimi</a:t>
            </a:r>
          </a:p>
          <a:p>
            <a:r>
              <a:rPr lang="en-US" dirty="0">
                <a:solidFill>
                  <a:srgbClr val="FFC000"/>
                </a:solidFill>
              </a:rPr>
              <a:t>Tir 1404</a:t>
            </a:r>
          </a:p>
        </p:txBody>
      </p:sp>
    </p:spTree>
    <p:extLst>
      <p:ext uri="{BB962C8B-B14F-4D97-AF65-F5344CB8AC3E}">
        <p14:creationId xmlns:p14="http://schemas.microsoft.com/office/powerpoint/2010/main" val="6353038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C247E-54B7-49A0-9E74-FBC4A5A66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653A2F-8F5B-405F-8D9C-2B4024BD1A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>
                <a:solidFill>
                  <a:schemeClr val="accent6"/>
                </a:solidFill>
              </a:rPr>
              <a:t>Introduction</a:t>
            </a:r>
            <a:endParaRPr lang="en-US" dirty="0">
              <a:solidFill>
                <a:schemeClr val="accent2"/>
              </a:solidFill>
            </a:endParaRPr>
          </a:p>
          <a:p>
            <a:pPr lvl="1"/>
            <a:r>
              <a:rPr lang="en-US" dirty="0">
                <a:solidFill>
                  <a:schemeClr val="accent2"/>
                </a:solidFill>
              </a:rPr>
              <a:t>Previous Works</a:t>
            </a:r>
          </a:p>
          <a:p>
            <a:pPr lvl="1"/>
            <a:r>
              <a:rPr lang="en-US" dirty="0" err="1">
                <a:solidFill>
                  <a:schemeClr val="accent2"/>
                </a:solidFill>
              </a:rPr>
              <a:t>RapidChain</a:t>
            </a:r>
            <a:r>
              <a:rPr lang="en-US" dirty="0">
                <a:solidFill>
                  <a:schemeClr val="accent2"/>
                </a:solidFill>
              </a:rPr>
              <a:t> Contribution</a:t>
            </a:r>
          </a:p>
          <a:p>
            <a:r>
              <a:rPr lang="en-US" dirty="0">
                <a:solidFill>
                  <a:schemeClr val="accent6"/>
                </a:solidFill>
              </a:rPr>
              <a:t>Design Components</a:t>
            </a:r>
          </a:p>
          <a:p>
            <a:pPr lvl="1"/>
            <a:r>
              <a:rPr lang="en-US" dirty="0">
                <a:solidFill>
                  <a:schemeClr val="accent2"/>
                </a:solidFill>
              </a:rPr>
              <a:t>Bootstrapping</a:t>
            </a:r>
          </a:p>
          <a:p>
            <a:pPr lvl="1"/>
            <a:r>
              <a:rPr lang="en-US" dirty="0">
                <a:solidFill>
                  <a:schemeClr val="accent2"/>
                </a:solidFill>
              </a:rPr>
              <a:t>Consensus</a:t>
            </a:r>
          </a:p>
          <a:p>
            <a:pPr lvl="1"/>
            <a:r>
              <a:rPr lang="en-US" dirty="0">
                <a:solidFill>
                  <a:schemeClr val="accent2"/>
                </a:solidFill>
              </a:rPr>
              <a:t>Reconﬁguration</a:t>
            </a:r>
          </a:p>
          <a:p>
            <a:r>
              <a:rPr lang="en-US" dirty="0">
                <a:solidFill>
                  <a:schemeClr val="accent6"/>
                </a:solidFill>
              </a:rPr>
              <a:t>Consensus in Committees</a:t>
            </a:r>
          </a:p>
          <a:p>
            <a:pPr lvl="1"/>
            <a:r>
              <a:rPr lang="en-US" dirty="0">
                <a:solidFill>
                  <a:schemeClr val="accent2"/>
                </a:solidFill>
              </a:rPr>
              <a:t>Protocol Details</a:t>
            </a:r>
          </a:p>
          <a:p>
            <a:pPr lvl="1"/>
            <a:r>
              <a:rPr lang="en-US" dirty="0">
                <a:solidFill>
                  <a:schemeClr val="accent2"/>
                </a:solidFill>
              </a:rPr>
              <a:t>Inter-Committee Routing</a:t>
            </a:r>
          </a:p>
          <a:p>
            <a:pPr lvl="1"/>
            <a:r>
              <a:rPr lang="en-US" dirty="0">
                <a:solidFill>
                  <a:schemeClr val="accent2"/>
                </a:solidFill>
              </a:rPr>
              <a:t>Intra-Committee Routing</a:t>
            </a:r>
          </a:p>
          <a:p>
            <a:r>
              <a:rPr lang="en-US" dirty="0">
                <a:solidFill>
                  <a:schemeClr val="accent6"/>
                </a:solidFill>
              </a:rPr>
              <a:t>Evaluation</a:t>
            </a:r>
          </a:p>
          <a:p>
            <a:pPr lvl="1"/>
            <a:r>
              <a:rPr lang="en-US" dirty="0">
                <a:solidFill>
                  <a:schemeClr val="accent2"/>
                </a:solidFill>
              </a:rPr>
              <a:t>Security</a:t>
            </a:r>
          </a:p>
          <a:p>
            <a:pPr lvl="1"/>
            <a:r>
              <a:rPr lang="en-US" dirty="0">
                <a:solidFill>
                  <a:schemeClr val="accent2"/>
                </a:solidFill>
              </a:rPr>
              <a:t>Performance</a:t>
            </a:r>
          </a:p>
          <a:p>
            <a:r>
              <a:rPr lang="en-US" dirty="0">
                <a:solidFill>
                  <a:schemeClr val="accent6"/>
                </a:solidFill>
              </a:rPr>
              <a:t>Challenges and Suggestions</a:t>
            </a:r>
          </a:p>
          <a:p>
            <a:pPr lvl="1"/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BCF7D4-D5C9-4730-A9A8-F2C65D218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1404/4/28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3A558C-B344-4F20-AC58-570421C53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Alireza Karimi, ECE, UT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0ABAC7-72D6-47A3-A907-9CBEB001D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1675091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FF00"/>
                </a:solidFill>
              </a:rPr>
              <a:t>Previous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Nakamoto Consensus </a:t>
            </a:r>
          </a:p>
          <a:p>
            <a:pPr lvl="1"/>
            <a:r>
              <a:rPr lang="en-US" b="1" dirty="0">
                <a:solidFill>
                  <a:schemeClr val="accent6"/>
                </a:solidFill>
              </a:rPr>
              <a:t>All propose, All verify</a:t>
            </a:r>
            <a:endParaRPr lang="en-US" dirty="0"/>
          </a:p>
          <a:p>
            <a:pPr lvl="1"/>
            <a:r>
              <a:rPr lang="en-US" dirty="0"/>
              <a:t>Bitcoin</a:t>
            </a:r>
            <a:endParaRPr lang="en-US" dirty="0">
              <a:solidFill>
                <a:schemeClr val="accent6"/>
              </a:solidFill>
            </a:endParaRPr>
          </a:p>
          <a:p>
            <a:pPr lvl="2"/>
            <a:r>
              <a:rPr lang="en-US" dirty="0">
                <a:solidFill>
                  <a:srgbClr val="FF0000"/>
                </a:solidFill>
              </a:rPr>
              <a:t>Every node maintains a full copy of the entire ledger</a:t>
            </a:r>
          </a:p>
          <a:p>
            <a:pPr lvl="2"/>
            <a:r>
              <a:rPr lang="en-US" dirty="0">
                <a:solidFill>
                  <a:srgbClr val="FF0000"/>
                </a:solidFill>
              </a:rPr>
              <a:t>Not Scalable</a:t>
            </a:r>
          </a:p>
          <a:p>
            <a:pPr lvl="2"/>
            <a:r>
              <a:rPr lang="en-US" dirty="0">
                <a:solidFill>
                  <a:srgbClr val="FF0000"/>
                </a:solidFill>
              </a:rPr>
              <a:t>Low transaction throughput</a:t>
            </a:r>
          </a:p>
          <a:p>
            <a:pPr lvl="2"/>
            <a:r>
              <a:rPr lang="en-US" dirty="0">
                <a:solidFill>
                  <a:srgbClr val="FF0000"/>
                </a:solidFill>
              </a:rPr>
              <a:t>High latency</a:t>
            </a:r>
          </a:p>
          <a:p>
            <a:pPr lvl="2"/>
            <a:r>
              <a:rPr lang="en-US" dirty="0">
                <a:solidFill>
                  <a:srgbClr val="FF0000"/>
                </a:solidFill>
              </a:rPr>
              <a:t>poor energy eﬃciency</a:t>
            </a:r>
          </a:p>
          <a:p>
            <a:pPr lvl="2"/>
            <a:r>
              <a:rPr lang="en-US" dirty="0">
                <a:solidFill>
                  <a:srgbClr val="FF0000"/>
                </a:solidFill>
              </a:rPr>
              <a:t>Mining-pool centralization</a:t>
            </a:r>
          </a:p>
          <a:p>
            <a:pPr lvl="2"/>
            <a:r>
              <a:rPr lang="en-US" dirty="0">
                <a:solidFill>
                  <a:srgbClr val="FF0000"/>
                </a:solidFill>
              </a:rPr>
              <a:t>Initial download of the entire blockchain</a:t>
            </a:r>
          </a:p>
          <a:p>
            <a:pPr lvl="2"/>
            <a:endParaRPr lang="en-US" dirty="0"/>
          </a:p>
          <a:p>
            <a:pPr lvl="2"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t>3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1404/4/28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Alireza Karimi, ECE, UT</a:t>
            </a:r>
          </a:p>
        </p:txBody>
      </p:sp>
    </p:spTree>
    <p:extLst>
      <p:ext uri="{BB962C8B-B14F-4D97-AF65-F5344CB8AC3E}">
        <p14:creationId xmlns:p14="http://schemas.microsoft.com/office/powerpoint/2010/main" val="423677249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FA5D13-7E44-ADF3-D5BE-BB92C1FB7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40D35-1F4B-9254-E4F2-52D651103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FF00"/>
                </a:solidFill>
              </a:rPr>
              <a:t>Previous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371120-FCF4-D1E6-36C5-26E4348446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Committee-Based Consensus Protocols</a:t>
            </a:r>
          </a:p>
          <a:p>
            <a:pPr lvl="1"/>
            <a:r>
              <a:rPr lang="en-US" b="1" dirty="0">
                <a:solidFill>
                  <a:schemeClr val="accent6"/>
                </a:solidFill>
              </a:rPr>
              <a:t>All propose, Some verify</a:t>
            </a:r>
          </a:p>
          <a:p>
            <a:pPr lvl="1"/>
            <a:r>
              <a:rPr lang="en-US" b="1" dirty="0">
                <a:solidFill>
                  <a:srgbClr val="00B050"/>
                </a:solidFill>
              </a:rPr>
              <a:t>Solve Scalability to some degree</a:t>
            </a:r>
            <a:endParaRPr lang="en-US" dirty="0">
              <a:solidFill>
                <a:srgbClr val="00B050"/>
              </a:solidFill>
            </a:endParaRPr>
          </a:p>
          <a:p>
            <a:pPr lvl="1"/>
            <a:r>
              <a:rPr lang="en-US" dirty="0" err="1"/>
              <a:t>PeerCensus</a:t>
            </a:r>
            <a:endParaRPr lang="en-US" dirty="0"/>
          </a:p>
          <a:p>
            <a:pPr lvl="2"/>
            <a:r>
              <a:rPr lang="en-US" dirty="0">
                <a:solidFill>
                  <a:srgbClr val="FF0000"/>
                </a:solidFill>
              </a:rPr>
              <a:t>Unclear</a:t>
            </a:r>
          </a:p>
          <a:p>
            <a:pPr lvl="1"/>
            <a:r>
              <a:rPr lang="en-US" dirty="0"/>
              <a:t>Hybrid Consensus</a:t>
            </a:r>
          </a:p>
          <a:p>
            <a:pPr lvl="2"/>
            <a:r>
              <a:rPr lang="en-US" dirty="0">
                <a:solidFill>
                  <a:srgbClr val="FF0000"/>
                </a:solidFill>
              </a:rPr>
              <a:t>Corruption by adversary</a:t>
            </a:r>
          </a:p>
          <a:p>
            <a:pPr lvl="1"/>
            <a:r>
              <a:rPr lang="en-US" dirty="0" err="1"/>
              <a:t>ByzCoin</a:t>
            </a:r>
            <a:endParaRPr lang="en-US" dirty="0"/>
          </a:p>
          <a:p>
            <a:pPr lvl="2"/>
            <a:r>
              <a:rPr lang="en-US" dirty="0">
                <a:solidFill>
                  <a:srgbClr val="FF0000"/>
                </a:solidFill>
              </a:rPr>
              <a:t>Incomplete and vulnerable to Byzantine faults</a:t>
            </a:r>
          </a:p>
          <a:p>
            <a:pPr lvl="1"/>
            <a:r>
              <a:rPr lang="en-US" dirty="0"/>
              <a:t>BA*</a:t>
            </a:r>
          </a:p>
          <a:p>
            <a:pPr lvl="2"/>
            <a:r>
              <a:rPr lang="en-US" dirty="0">
                <a:solidFill>
                  <a:srgbClr val="FF0000"/>
                </a:solidFill>
              </a:rPr>
              <a:t>Biased randomness</a:t>
            </a:r>
          </a:p>
          <a:p>
            <a:pPr lvl="1"/>
            <a:r>
              <a:rPr lang="en-US" dirty="0"/>
              <a:t>Solida</a:t>
            </a:r>
          </a:p>
          <a:p>
            <a:pPr lvl="2"/>
            <a:r>
              <a:rPr lang="en-US" dirty="0">
                <a:solidFill>
                  <a:srgbClr val="FF0000"/>
                </a:solidFill>
              </a:rPr>
              <a:t>Trusted genesis block</a:t>
            </a:r>
          </a:p>
          <a:p>
            <a:pPr marL="914400" lvl="2" indent="0">
              <a:buNone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6C809A-8ECF-FF73-95F6-297FE2B41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t>4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07C287-14C8-2E8B-EF61-0B8431F7E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1404/4/28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BD080D-9D18-0048-2D4A-CC102DB8C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Alireza Karimi, ECE, UT</a:t>
            </a:r>
          </a:p>
        </p:txBody>
      </p:sp>
    </p:spTree>
    <p:extLst>
      <p:ext uri="{BB962C8B-B14F-4D97-AF65-F5344CB8AC3E}">
        <p14:creationId xmlns:p14="http://schemas.microsoft.com/office/powerpoint/2010/main" val="2992849674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3C3CD7-281C-2FA5-628C-DB17A1DF3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61B85-9153-F4E3-544C-88F1D282B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FF00"/>
                </a:solidFill>
              </a:rPr>
              <a:t>Previous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2761CB-B8EC-33EF-4148-B7099BABA3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Sharding-Based Consensus Protocols</a:t>
            </a:r>
          </a:p>
          <a:p>
            <a:pPr lvl="1"/>
            <a:r>
              <a:rPr lang="en-US" b="1" dirty="0">
                <a:solidFill>
                  <a:schemeClr val="accent6"/>
                </a:solidFill>
              </a:rPr>
              <a:t>Some propose, Some verify</a:t>
            </a:r>
          </a:p>
          <a:p>
            <a:pPr lvl="1"/>
            <a:r>
              <a:rPr lang="en-US" b="1" dirty="0">
                <a:solidFill>
                  <a:schemeClr val="accent6"/>
                </a:solidFill>
              </a:rPr>
              <a:t>Parallel Work</a:t>
            </a:r>
            <a:endParaRPr lang="en-US" dirty="0"/>
          </a:p>
          <a:p>
            <a:pPr lvl="1"/>
            <a:r>
              <a:rPr lang="en-US" dirty="0" err="1"/>
              <a:t>RSCoin</a:t>
            </a:r>
            <a:endParaRPr lang="en-US" dirty="0"/>
          </a:p>
          <a:p>
            <a:pPr lvl="2"/>
            <a:r>
              <a:rPr lang="en-US" dirty="0">
                <a:solidFill>
                  <a:srgbClr val="FF0000"/>
                </a:solidFill>
              </a:rPr>
              <a:t>Not Byzantine fault tolerant</a:t>
            </a:r>
          </a:p>
          <a:p>
            <a:pPr lvl="1"/>
            <a:r>
              <a:rPr lang="en-US" dirty="0" err="1"/>
              <a:t>Elastico</a:t>
            </a:r>
            <a:endParaRPr lang="en-US" dirty="0"/>
          </a:p>
          <a:p>
            <a:pPr lvl="2"/>
            <a:r>
              <a:rPr lang="en-US" dirty="0">
                <a:solidFill>
                  <a:srgbClr val="FF0000"/>
                </a:solidFill>
              </a:rPr>
              <a:t>Re-build all committees in “every” epoch.</a:t>
            </a:r>
          </a:p>
          <a:p>
            <a:pPr lvl="2"/>
            <a:r>
              <a:rPr lang="en-US" dirty="0">
                <a:solidFill>
                  <a:srgbClr val="FF0000"/>
                </a:solidFill>
              </a:rPr>
              <a:t>Biased randomness</a:t>
            </a:r>
          </a:p>
          <a:p>
            <a:pPr lvl="2"/>
            <a:r>
              <a:rPr lang="en-US" dirty="0">
                <a:solidFill>
                  <a:srgbClr val="FF0000"/>
                </a:solidFill>
              </a:rPr>
              <a:t>Trusted setup for initial common randomness</a:t>
            </a:r>
          </a:p>
          <a:p>
            <a:pPr lvl="2"/>
            <a:r>
              <a:rPr lang="en-US" dirty="0">
                <a:solidFill>
                  <a:srgbClr val="FF0000"/>
                </a:solidFill>
              </a:rPr>
              <a:t>Gossip-to-all</a:t>
            </a:r>
          </a:p>
          <a:p>
            <a:pPr lvl="1"/>
            <a:r>
              <a:rPr lang="en-US" dirty="0" err="1"/>
              <a:t>OmniLedger</a:t>
            </a:r>
            <a:endParaRPr lang="en-US" dirty="0"/>
          </a:p>
          <a:p>
            <a:pPr lvl="2"/>
            <a:r>
              <a:rPr lang="en-US" dirty="0">
                <a:solidFill>
                  <a:srgbClr val="FF0000"/>
                </a:solidFill>
              </a:rPr>
              <a:t>Runs a global reconﬁguration protocol at every epoch</a:t>
            </a:r>
          </a:p>
          <a:p>
            <a:pPr lvl="2"/>
            <a:r>
              <a:rPr lang="en-US" dirty="0">
                <a:solidFill>
                  <a:srgbClr val="FF0000"/>
                </a:solidFill>
              </a:rPr>
              <a:t>Gossip-to-all</a:t>
            </a:r>
          </a:p>
          <a:p>
            <a:pPr lvl="2"/>
            <a:r>
              <a:rPr lang="en-US" dirty="0">
                <a:solidFill>
                  <a:srgbClr val="FF0000"/>
                </a:solidFill>
              </a:rPr>
              <a:t>Incomplete and unclear</a:t>
            </a:r>
          </a:p>
          <a:p>
            <a:pPr lvl="2"/>
            <a:r>
              <a:rPr lang="en-US" dirty="0">
                <a:solidFill>
                  <a:srgbClr val="FF0000"/>
                </a:solidFill>
              </a:rPr>
              <a:t>Trusted setup</a:t>
            </a:r>
          </a:p>
          <a:p>
            <a:pPr lvl="2"/>
            <a:r>
              <a:rPr lang="en-US" dirty="0">
                <a:solidFill>
                  <a:srgbClr val="FF0000"/>
                </a:solidFill>
              </a:rPr>
              <a:t>Vulnerable to (DoS) attacks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D3154E-3C6C-3805-0894-3B6EFAA4E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t>5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A2DAEF-3FE0-4587-B9BA-A66C3F425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1404/4/28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1A0CDC-21B2-70B1-CB0C-EC2710E19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Alireza Karimi, ECE, UT</a:t>
            </a:r>
          </a:p>
        </p:txBody>
      </p:sp>
    </p:spTree>
    <p:extLst>
      <p:ext uri="{BB962C8B-B14F-4D97-AF65-F5344CB8AC3E}">
        <p14:creationId xmlns:p14="http://schemas.microsoft.com/office/powerpoint/2010/main" val="3331608133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C8B082-9260-B19C-EDF4-24EF1BCCD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7B5DE-B27F-7BB9-B1E4-F8D072A96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rgbClr val="FFFF00"/>
                </a:solidFill>
              </a:rPr>
              <a:t>Rapidchain</a:t>
            </a:r>
            <a:r>
              <a:rPr lang="en-US" dirty="0">
                <a:solidFill>
                  <a:srgbClr val="FFFF00"/>
                </a:solidFill>
              </a:rPr>
              <a:t> Contribution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8E7933-E2A2-BAC3-0220-5307F331E6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Pros</a:t>
            </a:r>
          </a:p>
          <a:p>
            <a:pPr lvl="1"/>
            <a:r>
              <a:rPr lang="en-US" dirty="0">
                <a:solidFill>
                  <a:srgbClr val="00B050"/>
                </a:solidFill>
              </a:rPr>
              <a:t>First Fully Sharding Protocol (parallel)</a:t>
            </a:r>
          </a:p>
          <a:p>
            <a:pPr lvl="1"/>
            <a:r>
              <a:rPr lang="en-US" dirty="0">
                <a:solidFill>
                  <a:srgbClr val="00B050"/>
                </a:solidFill>
              </a:rPr>
              <a:t>Not gossip-to-all (Logarithmic latency and storage)</a:t>
            </a:r>
          </a:p>
          <a:p>
            <a:pPr lvl="1"/>
            <a:r>
              <a:rPr lang="en-US" dirty="0">
                <a:solidFill>
                  <a:srgbClr val="00B050"/>
                </a:solidFill>
              </a:rPr>
              <a:t>Without the assumption of a trusted randomness</a:t>
            </a:r>
          </a:p>
          <a:p>
            <a:pPr lvl="1"/>
            <a:r>
              <a:rPr lang="en-US" dirty="0">
                <a:solidFill>
                  <a:srgbClr val="00B050"/>
                </a:solidFill>
              </a:rPr>
              <a:t>First 1/3  resilient protocol (rather than ¼ like before) </a:t>
            </a:r>
          </a:p>
          <a:p>
            <a:r>
              <a:rPr lang="en-US" dirty="0"/>
              <a:t>Cons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?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??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???</a:t>
            </a:r>
          </a:p>
          <a:p>
            <a:pPr marL="914400" lvl="2" indent="0">
              <a:buNone/>
            </a:pP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3957BA-64CC-4E89-E419-A8A138620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t>6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04D7DC-1EC8-E0CA-53FA-3C166B9F1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1404/4/28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35D261-7491-3F41-5DAB-314E5C241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Alireza Karimi, ECE, UT</a:t>
            </a:r>
          </a:p>
        </p:txBody>
      </p:sp>
    </p:spTree>
    <p:extLst>
      <p:ext uri="{BB962C8B-B14F-4D97-AF65-F5344CB8AC3E}">
        <p14:creationId xmlns:p14="http://schemas.microsoft.com/office/powerpoint/2010/main" val="297549317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DD31B-5595-B8EF-E311-43A95E86B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512E0-083E-A676-93E6-AE2E1288E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FF00"/>
                </a:solidFill>
              </a:rPr>
              <a:t>Design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ED9A46-AA45-8C8F-70B7-EEA7AE8CF0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961098" cy="4351338"/>
          </a:xfrm>
        </p:spPr>
        <p:txBody>
          <a:bodyPr>
            <a:normAutofit/>
          </a:bodyPr>
          <a:lstStyle/>
          <a:p>
            <a:r>
              <a:rPr lang="en-US" dirty="0"/>
              <a:t>Bootstrapping </a:t>
            </a:r>
          </a:p>
          <a:p>
            <a:pPr lvl="1"/>
            <a:r>
              <a:rPr lang="en-US" dirty="0"/>
              <a:t>18.5 hours</a:t>
            </a:r>
          </a:p>
          <a:p>
            <a:r>
              <a:rPr lang="en-US" dirty="0"/>
              <a:t>Consensus</a:t>
            </a:r>
          </a:p>
          <a:p>
            <a:pPr lvl="1"/>
            <a:r>
              <a:rPr lang="en-US" dirty="0"/>
              <a:t>One day</a:t>
            </a:r>
          </a:p>
          <a:p>
            <a:pPr lvl="1"/>
            <a:r>
              <a:rPr lang="en-US" dirty="0"/>
              <a:t>Each contains thousands of about 8.7 seconds consensus instances</a:t>
            </a:r>
          </a:p>
          <a:p>
            <a:r>
              <a:rPr lang="en-US" dirty="0"/>
              <a:t>Reconfiguration</a:t>
            </a:r>
          </a:p>
          <a:p>
            <a:pPr lvl="1"/>
            <a:r>
              <a:rPr lang="en-US" dirty="0"/>
              <a:t>6 minutes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EE91AE-5F33-116D-DE89-249007CB1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t>7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96CD05-180C-0729-8F86-449D0ECF9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1404/4/28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7576E9-6C67-D70F-2211-7691CB96F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Alireza Karimi, ECE, UT</a:t>
            </a:r>
          </a:p>
        </p:txBody>
      </p:sp>
    </p:spTree>
    <p:extLst>
      <p:ext uri="{BB962C8B-B14F-4D97-AF65-F5344CB8AC3E}">
        <p14:creationId xmlns:p14="http://schemas.microsoft.com/office/powerpoint/2010/main" val="398570886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6E877-485F-24A0-0A4F-1DCCA04BE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0372E-93B6-56C6-1DE4-5F401C80D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FF00"/>
                </a:solidFill>
              </a:rPr>
              <a:t>Bootstrapping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FCCFA0-5814-6098-49BC-10DD06E76F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dirty="0"/>
              <a:t>Committee election</a:t>
            </a:r>
          </a:p>
          <a:p>
            <a:pPr lvl="2"/>
            <a:r>
              <a:rPr lang="en-US" dirty="0"/>
              <a:t>Sampler Graph</a:t>
            </a:r>
          </a:p>
          <a:p>
            <a:pPr lvl="1"/>
            <a:r>
              <a:rPr lang="en-US" dirty="0"/>
              <a:t>Create root group</a:t>
            </a:r>
          </a:p>
          <a:p>
            <a:pPr lvl="1"/>
            <a:r>
              <a:rPr lang="en-US" dirty="0"/>
              <a:t>Select </a:t>
            </a:r>
            <a:r>
              <a:rPr lang="en-US" dirty="0">
                <a:solidFill>
                  <a:srgbClr val="FFC000"/>
                </a:solidFill>
              </a:rPr>
              <a:t>Reference Committee</a:t>
            </a:r>
          </a:p>
          <a:p>
            <a:pPr lvl="2"/>
            <a:r>
              <a:rPr lang="en-US" dirty="0"/>
              <a:t>Epoch Randomness Generation</a:t>
            </a:r>
          </a:p>
          <a:p>
            <a:pPr lvl="2"/>
            <a:r>
              <a:rPr lang="en-US" dirty="0"/>
              <a:t>Protocol Reconfiguration</a:t>
            </a:r>
            <a:endParaRPr lang="en-US" dirty="0">
              <a:solidFill>
                <a:srgbClr val="FFC000"/>
              </a:solidFill>
            </a:endParaRPr>
          </a:p>
          <a:p>
            <a:pPr lvl="1"/>
            <a:r>
              <a:rPr lang="en-US" dirty="0"/>
              <a:t>Create </a:t>
            </a:r>
            <a:r>
              <a:rPr lang="en-US" dirty="0">
                <a:solidFill>
                  <a:srgbClr val="FFC000"/>
                </a:solidFill>
              </a:rPr>
              <a:t>sharding Committees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High Cost (86.5 G storage)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684D31-46BC-8D12-E2F3-B82044BE5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t>8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4EAF25-D2F2-AEC5-48C6-9EAFA660B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1404/4/28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4CD634-37D3-5803-4C77-3DB420060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Alireza Karimi, ECE, UT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5F5DC33-4502-CEF2-6CBA-53B4EE3C9C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8788" y="1646238"/>
            <a:ext cx="5063624" cy="42545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64342816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819C2-58B1-9F86-FF6E-8A2D1F29B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1C14B-0740-9C05-0794-7788B2B6A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FF00"/>
                </a:solidFill>
              </a:rPr>
              <a:t>Consensus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B6711-EA18-5416-814B-43EB7C7019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dirty="0"/>
              <a:t>Intra-Committee </a:t>
            </a:r>
          </a:p>
          <a:p>
            <a:pPr lvl="2"/>
            <a:r>
              <a:rPr lang="en-US" dirty="0"/>
              <a:t>Synchronous</a:t>
            </a:r>
          </a:p>
          <a:p>
            <a:pPr lvl="2"/>
            <a:r>
              <a:rPr lang="en-US" dirty="0"/>
              <a:t>IDA-Gossip</a:t>
            </a:r>
          </a:p>
          <a:p>
            <a:pPr lvl="2"/>
            <a:r>
              <a:rPr lang="en-US" dirty="0"/>
              <a:t>Pipeline (1.4x better)</a:t>
            </a:r>
          </a:p>
          <a:p>
            <a:pPr lvl="1"/>
            <a:r>
              <a:rPr lang="en-US" dirty="0"/>
              <a:t>Inter-Committee</a:t>
            </a:r>
          </a:p>
          <a:p>
            <a:pPr lvl="2"/>
            <a:r>
              <a:rPr lang="en-US" dirty="0"/>
              <a:t>Partially synchronous </a:t>
            </a:r>
          </a:p>
          <a:p>
            <a:pPr lvl="2"/>
            <a:r>
              <a:rPr lang="en-US" dirty="0"/>
              <a:t>Cross-Shard transactions</a:t>
            </a:r>
          </a:p>
          <a:p>
            <a:pPr lvl="2"/>
            <a:r>
              <a:rPr lang="en-US" dirty="0"/>
              <a:t>Cross-Shard batching</a:t>
            </a:r>
          </a:p>
          <a:p>
            <a:pPr lvl="2"/>
            <a:r>
              <a:rPr lang="en-US" dirty="0" err="1"/>
              <a:t>Kademlia</a:t>
            </a:r>
            <a:r>
              <a:rPr lang="en-US" dirty="0"/>
              <a:t> technique (O(log n))</a:t>
            </a:r>
          </a:p>
          <a:p>
            <a:pPr marL="1828800" lvl="4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A77CF0-5A0C-EE3E-96A3-9253BE101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t>9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A73EB7-CAC0-68ED-8BA1-2E58935E8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1404/4/28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F6335A-2327-EF44-ADBE-37B7D1C73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Alireza Karimi, ECE, UT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4CB24DE-D602-E395-0C92-709C5BCFB6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0300" y="2553494"/>
            <a:ext cx="4800600" cy="28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099826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C1A76E-48C5-CAA8-C217-093AD4889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2FF1B-C077-EB2A-28B8-946F8C970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FF00"/>
                </a:solidFill>
              </a:rPr>
              <a:t>Reconfiguration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23F335-1529-CD8E-FCDB-E23A8965BC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dirty="0"/>
              <a:t>Generate new Randomness</a:t>
            </a:r>
          </a:p>
          <a:p>
            <a:pPr lvl="2"/>
            <a:r>
              <a:rPr lang="en-US" dirty="0"/>
              <a:t>Distributed Random Generation(DRG)</a:t>
            </a:r>
          </a:p>
          <a:p>
            <a:pPr lvl="2"/>
            <a:r>
              <a:rPr lang="en-US" dirty="0"/>
              <a:t>Verifiable Secret Sharing (VSS) </a:t>
            </a:r>
            <a:endParaRPr lang="fa-IR" dirty="0"/>
          </a:p>
          <a:p>
            <a:pPr lvl="2"/>
            <a:r>
              <a:rPr lang="en-US" dirty="0"/>
              <a:t>Create new offline PoW puzzles</a:t>
            </a:r>
          </a:p>
          <a:p>
            <a:pPr lvl="1"/>
            <a:r>
              <a:rPr lang="en-US" dirty="0"/>
              <a:t>Nodes join, leave or corrupt</a:t>
            </a:r>
          </a:p>
          <a:p>
            <a:pPr lvl="2"/>
            <a:r>
              <a:rPr lang="en-US" dirty="0"/>
              <a:t>Node Initialization and Storage </a:t>
            </a:r>
          </a:p>
          <a:p>
            <a:pPr lvl="3"/>
            <a:r>
              <a:rPr lang="en-US" dirty="0"/>
              <a:t>State of the new committee</a:t>
            </a:r>
          </a:p>
          <a:p>
            <a:pPr lvl="3"/>
            <a:r>
              <a:rPr lang="en-US" dirty="0"/>
              <a:t>Only UTXOs (not all transactions)</a:t>
            </a:r>
          </a:p>
          <a:p>
            <a:pPr lvl="2"/>
            <a:r>
              <a:rPr lang="en-US" dirty="0"/>
              <a:t>Cuckoo rule</a:t>
            </a:r>
          </a:p>
          <a:p>
            <a:pPr lvl="2"/>
            <a:r>
              <a:rPr lang="en-US" dirty="0"/>
              <a:t>Reshuffle committees</a:t>
            </a:r>
          </a:p>
          <a:p>
            <a:pPr lvl="3"/>
            <a:r>
              <a:rPr lang="en-US" dirty="0"/>
              <a:t>Adversary can’t take control</a:t>
            </a:r>
          </a:p>
          <a:p>
            <a:pPr marL="1828800" lvl="4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69798F-D935-04B5-86FA-306BECD8C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t>10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EFC691-C5B3-5E97-411D-0257E8307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1404/4/28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F7F50A-10E1-2D0E-7B5C-C0392A09D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Alireza Karimi, ECE, UT</a:t>
            </a:r>
          </a:p>
        </p:txBody>
      </p:sp>
    </p:spTree>
    <p:extLst>
      <p:ext uri="{BB962C8B-B14F-4D97-AF65-F5344CB8AC3E}">
        <p14:creationId xmlns:p14="http://schemas.microsoft.com/office/powerpoint/2010/main" val="97269965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218DD-82EB-A641-F6C2-47E1228B0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9D4AB-161D-A1C7-F540-188A93661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FF00"/>
                </a:solidFill>
              </a:rPr>
              <a:t>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CE8D36-B0FC-DA11-FE39-7EBFBF3A87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390818" y="5280776"/>
            <a:ext cx="6389723" cy="1075574"/>
          </a:xfrm>
        </p:spPr>
        <p:txBody>
          <a:bodyPr>
            <a:normAutofit/>
          </a:bodyPr>
          <a:lstStyle/>
          <a:p>
            <a:pPr lvl="2"/>
            <a:r>
              <a:rPr lang="en-US" dirty="0"/>
              <a:t>Throughput scalability of </a:t>
            </a:r>
            <a:r>
              <a:rPr lang="en-US" dirty="0" err="1"/>
              <a:t>RapidChain</a:t>
            </a:r>
            <a:endParaRPr lang="en-US" dirty="0"/>
          </a:p>
          <a:p>
            <a:pPr marL="1828800" lvl="4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EB0F1D-48ED-336F-3850-E2F23F54F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t>11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843009-CFDD-6FE4-1AFD-BC047234D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1404/4/28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FBD889-EAC5-EB5A-F943-F78EFD962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Alireza Karimi, ECE, UT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4D3C0EE-9D91-0590-6074-248FBACEE174}"/>
              </a:ext>
            </a:extLst>
          </p:cNvPr>
          <p:cNvSpPr txBox="1">
            <a:spLocks/>
          </p:cNvSpPr>
          <p:nvPr/>
        </p:nvSpPr>
        <p:spPr>
          <a:xfrm>
            <a:off x="5600749" y="5280776"/>
            <a:ext cx="5562502" cy="269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r>
              <a:rPr lang="en-US" dirty="0"/>
              <a:t>Transaction latency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191D7D7-81FE-5A47-49A7-47B0191C7C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6920" y="1619605"/>
            <a:ext cx="5177525" cy="338075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51A8DDD-65F0-3527-C76E-A811357155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92"/>
          <a:stretch>
            <a:fillRect/>
          </a:stretch>
        </p:blipFill>
        <p:spPr>
          <a:xfrm>
            <a:off x="377359" y="1655147"/>
            <a:ext cx="5337641" cy="3345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26680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A6BF74-59BF-803F-06D5-5A3A497C3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CE858-1644-85C8-26B2-E66FA10CA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FF00"/>
                </a:solidFill>
              </a:rPr>
              <a:t>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AF0E3-8DE2-0AA9-DE3A-B074B47511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266699" y="4964821"/>
            <a:ext cx="5676899" cy="1528054"/>
          </a:xfrm>
        </p:spPr>
        <p:txBody>
          <a:bodyPr>
            <a:normAutofit/>
          </a:bodyPr>
          <a:lstStyle/>
          <a:p>
            <a:pPr lvl="2"/>
            <a:r>
              <a:rPr lang="en-US" dirty="0"/>
              <a:t>Reconﬁguration latency when 1, 5, or 10 nodes join each committee</a:t>
            </a:r>
          </a:p>
          <a:p>
            <a:pPr lvl="3"/>
            <a:r>
              <a:rPr lang="en-US" dirty="0"/>
              <a:t>If a lot of nodes enter, we will have more latency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EE8DBA-1642-AB40-C20C-E5FEE0D5F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t>12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EA7D02-144F-1854-0713-714BAB786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1404/4/28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20F161-68DF-C252-6FD0-BA5405C58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Alireza Karimi, ECE, UT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C893B08-F008-8D21-C07F-8C23F47352A9}"/>
              </a:ext>
            </a:extLst>
          </p:cNvPr>
          <p:cNvSpPr txBox="1">
            <a:spLocks/>
          </p:cNvSpPr>
          <p:nvPr/>
        </p:nvSpPr>
        <p:spPr>
          <a:xfrm>
            <a:off x="5600749" y="4964821"/>
            <a:ext cx="5562502" cy="269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r>
              <a:rPr lang="en-US" dirty="0"/>
              <a:t>Impact of batching cross-shard veriﬁcations</a:t>
            </a:r>
          </a:p>
          <a:p>
            <a:pPr lvl="3"/>
            <a:r>
              <a:rPr lang="en-US" dirty="0"/>
              <a:t>It is So effective</a:t>
            </a:r>
          </a:p>
          <a:p>
            <a:pPr marL="1828800" lvl="4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88D458A-91BE-53C3-3927-B24BDB2EFB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2327" y="1690688"/>
            <a:ext cx="5562503" cy="30734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85CD7F3-CFD6-3F4D-D2C9-C84C33C393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774" y="1690688"/>
            <a:ext cx="5676900" cy="307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1208650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5AF8E9-535F-0D73-12AE-748080123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066BD-E113-EA33-BA8F-2151BEE96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FF00"/>
                </a:solidFill>
              </a:rPr>
              <a:t>Evaluation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3F267E-979F-E434-A4A1-ABFA5B4B7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t>13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DCABFD-DCDC-5643-EDBE-216C77343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1404/4/28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60AE41-4751-518E-C071-DAC68FCF7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Alireza Karimi, ECE, UT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5FA927A-7468-999C-445C-4DF9033030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7082" y="2123741"/>
            <a:ext cx="8930392" cy="2610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540757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486D97-177B-DC97-C9D0-37C52A209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C8192-71E3-F4F5-FA68-CB3338D4D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FF00"/>
                </a:solidFill>
              </a:rPr>
              <a:t>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5D7DFD-9BA6-506A-20DB-BF39C368A3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Security Assumptions</a:t>
            </a:r>
          </a:p>
          <a:p>
            <a:pPr lvl="1"/>
            <a:r>
              <a:rPr lang="en-US" dirty="0">
                <a:solidFill>
                  <a:srgbClr val="FFC000"/>
                </a:solidFill>
              </a:rPr>
              <a:t>This model assumes the adversary can only choose which nodes to corrupt. Between epochs, but not during an active epoch.</a:t>
            </a:r>
          </a:p>
          <a:p>
            <a:pPr lvl="1"/>
            <a:r>
              <a:rPr lang="en-US" dirty="0">
                <a:solidFill>
                  <a:srgbClr val="FFC000"/>
                </a:solidFill>
              </a:rPr>
              <a:t>Small number of nodes join, leave, or are corrupted</a:t>
            </a:r>
          </a:p>
          <a:p>
            <a:pPr lvl="1"/>
            <a:r>
              <a:rPr lang="en-US" dirty="0">
                <a:solidFill>
                  <a:srgbClr val="FFC000"/>
                </a:solidFill>
              </a:rPr>
              <a:t>The protocol assumes that all participants have roughly equivalent computational power</a:t>
            </a:r>
          </a:p>
          <a:p>
            <a:r>
              <a:rPr lang="en-US" dirty="0"/>
              <a:t>Cons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Complex detail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Slowly-adaptive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High Cost of Bootstrapping (86.5 G)</a:t>
            </a:r>
          </a:p>
          <a:p>
            <a:pPr marL="457200" lvl="1" indent="0">
              <a:buNone/>
            </a:pP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A15685-2B2B-9079-1089-B9DDE7B28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t>14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417121-02F0-E481-4156-4294826A5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1404/4/28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BF4E76-D0D7-9754-6EBF-1C2166D2B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Alireza Karimi, ECE, UT</a:t>
            </a:r>
          </a:p>
        </p:txBody>
      </p:sp>
    </p:spTree>
    <p:extLst>
      <p:ext uri="{BB962C8B-B14F-4D97-AF65-F5344CB8AC3E}">
        <p14:creationId xmlns:p14="http://schemas.microsoft.com/office/powerpoint/2010/main" val="3154314408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B5534-AEE8-1213-8091-E254AE547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AD35E-8F18-1F6E-2D85-EEA0B1B26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FF00"/>
                </a:solidFill>
              </a:rPr>
              <a:t>Suggestions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1E824-7CAB-D37F-2936-EA8B8FEF39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Avalanche</a:t>
            </a:r>
          </a:p>
          <a:p>
            <a:pPr lvl="1"/>
            <a:r>
              <a:rPr lang="en-US" dirty="0"/>
              <a:t>highly responsive and lightweight </a:t>
            </a:r>
          </a:p>
          <a:p>
            <a:r>
              <a:rPr lang="en-US" dirty="0" err="1"/>
              <a:t>Algorand</a:t>
            </a:r>
            <a:endParaRPr lang="en-US" dirty="0"/>
          </a:p>
          <a:p>
            <a:pPr lvl="1"/>
            <a:r>
              <a:rPr lang="en-US" dirty="0"/>
              <a:t>Secure against fully-adaptive adversaries</a:t>
            </a:r>
          </a:p>
          <a:p>
            <a:r>
              <a:rPr lang="en-US" dirty="0" err="1"/>
              <a:t>HotStuff</a:t>
            </a:r>
            <a:endParaRPr lang="en-US" dirty="0"/>
          </a:p>
          <a:p>
            <a:r>
              <a:rPr lang="en-US" dirty="0"/>
              <a:t>Ethereum 2.0 (The Merge)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5797F7-C3D1-47EA-7B13-B65B3F50F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t>15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064765-B562-DD90-4F82-146778380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1404/4/28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9742FE-DE46-4034-0AE3-6C0BF2EEF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Alireza Karimi, ECE, UT</a:t>
            </a:r>
          </a:p>
        </p:txBody>
      </p:sp>
    </p:spTree>
    <p:extLst>
      <p:ext uri="{BB962C8B-B14F-4D97-AF65-F5344CB8AC3E}">
        <p14:creationId xmlns:p14="http://schemas.microsoft.com/office/powerpoint/2010/main" val="2441992574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4521530" y="2967335"/>
            <a:ext cx="314893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Thank You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838200" y="6533147"/>
            <a:ext cx="2743200" cy="188328"/>
          </a:xfrm>
        </p:spPr>
        <p:txBody>
          <a:bodyPr/>
          <a:lstStyle/>
          <a:p>
            <a:r>
              <a:rPr lang="en-US" dirty="0"/>
              <a:t>1404/4/28</a:t>
            </a:r>
          </a:p>
          <a:p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Alireza Karimi, ECE, UT</a:t>
            </a:r>
          </a:p>
        </p:txBody>
      </p:sp>
    </p:spTree>
    <p:extLst>
      <p:ext uri="{BB962C8B-B14F-4D97-AF65-F5344CB8AC3E}">
        <p14:creationId xmlns:p14="http://schemas.microsoft.com/office/powerpoint/2010/main" val="3308992097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BUT-Slide-theme">
  <a:themeElements>
    <a:clrScheme name="Custom 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FFC000"/>
      </a:accent2>
      <a:accent3>
        <a:srgbClr val="0563C1"/>
      </a:accent3>
      <a:accent4>
        <a:srgbClr val="C55A11"/>
      </a:accent4>
      <a:accent5>
        <a:srgbClr val="4472C4"/>
      </a:accent5>
      <a:accent6>
        <a:srgbClr val="ED7D31"/>
      </a:accent6>
      <a:hlink>
        <a:srgbClr val="F4A90C"/>
      </a:hlink>
      <a:folHlink>
        <a:srgbClr val="4A2739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UT-Slide-theme" id="{028800E7-4E94-45F7-BC13-E41A32E1898E}" vid="{430FA34B-EB45-4A76-A4B0-A571496D941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BUT-Slide-theme</Template>
  <TotalTime>5249</TotalTime>
  <Words>799</Words>
  <Application>Microsoft Macintosh PowerPoint</Application>
  <PresentationFormat>Widescreen</PresentationFormat>
  <Paragraphs>208</Paragraphs>
  <Slides>16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BUT-Slide-theme</vt:lpstr>
      <vt:lpstr>RapidChain: Scaling Blockchain via Full Sharding  </vt:lpstr>
      <vt:lpstr>Outline</vt:lpstr>
      <vt:lpstr>Previous Works</vt:lpstr>
      <vt:lpstr>Previous Works</vt:lpstr>
      <vt:lpstr>Previous Works</vt:lpstr>
      <vt:lpstr>Rapidchain Contribution</vt:lpstr>
      <vt:lpstr>Design Components</vt:lpstr>
      <vt:lpstr>Bootstrapping</vt:lpstr>
      <vt:lpstr>Consensus</vt:lpstr>
      <vt:lpstr>Reconfiguration</vt:lpstr>
      <vt:lpstr>Evaluation</vt:lpstr>
      <vt:lpstr>Evaluation</vt:lpstr>
      <vt:lpstr>Evaluation</vt:lpstr>
      <vt:lpstr>Challenges</vt:lpstr>
      <vt:lpstr>Suggestions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Contracts and Developing DApps on on Ethereum</dc:title>
  <dc:creator>Windows User</dc:creator>
  <cp:lastModifiedBy>Microsoft Office User</cp:lastModifiedBy>
  <cp:revision>222</cp:revision>
  <dcterms:created xsi:type="dcterms:W3CDTF">2019-01-29T11:09:45Z</dcterms:created>
  <dcterms:modified xsi:type="dcterms:W3CDTF">2025-07-19T21:55:40Z</dcterms:modified>
</cp:coreProperties>
</file>